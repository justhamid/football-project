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4" r:id="rId6"/>
    <p:sldId id="261" r:id="rId7"/>
    <p:sldId id="262" r:id="rId8"/>
    <p:sldId id="263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EDDD"/>
    <a:srgbClr val="EBF0F3"/>
    <a:srgbClr val="EDF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7451" autoAdjust="0"/>
  </p:normalViewPr>
  <p:slideViewPr>
    <p:cSldViewPr>
      <p:cViewPr varScale="1">
        <p:scale>
          <a:sx n="54" d="100"/>
          <a:sy n="54" d="100"/>
        </p:scale>
        <p:origin x="109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7C794-80AF-489A-AD70-51AB76E423E6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D11D41-850C-4D3F-9163-4342CE5782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2526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dim_player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qui est le joueur ?</a:t>
            </a:r>
          </a:p>
          <a:p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dim_club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quel club ?</a:t>
            </a:r>
          </a:p>
          <a:p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dim_competition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quel championnat ?</a:t>
            </a:r>
          </a:p>
          <a:p>
            <a:br>
              <a:rPr lang="fr-FR" dirty="0"/>
            </a:b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fait_player_value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combien vaut le joueur ? combien de buts ? combien de passes ?</a:t>
            </a:r>
            <a:endParaRPr lang="fr-FR" b="1" dirty="0"/>
          </a:p>
          <a:p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agg_value_by_position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valeur par poste</a:t>
            </a:r>
          </a:p>
          <a:p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agg_value_by_league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valeur par championnat</a:t>
            </a:r>
          </a:p>
          <a:p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agg_value_by_age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valeur par âge</a:t>
            </a:r>
          </a:p>
          <a:p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agg_top_players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top 50 joueurs</a:t>
            </a:r>
          </a:p>
          <a:p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agg_value_by_nationality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valeur par nationalité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11D41-850C-4D3F-9163-4342CE578201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179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dim_player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qui est le joueur ?</a:t>
            </a:r>
          </a:p>
          <a:p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dim_club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quel club ?</a:t>
            </a:r>
          </a:p>
          <a:p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dim_competition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quel championnat ?</a:t>
            </a:r>
          </a:p>
          <a:p>
            <a:br>
              <a:rPr lang="fr-FR" dirty="0"/>
            </a:b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fait_player_value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combien vaut le joueur ? combien de buts ? combien de passes ?</a:t>
            </a:r>
            <a:endParaRPr lang="fr-FR" b="1" dirty="0"/>
          </a:p>
          <a:p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agg_value_by_position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valeur par poste</a:t>
            </a:r>
          </a:p>
          <a:p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agg_value_by_league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valeur par championnat</a:t>
            </a:r>
          </a:p>
          <a:p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agg_value_by_age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valeur par âge</a:t>
            </a:r>
          </a:p>
          <a:p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agg_top_players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top 50 joueurs</a:t>
            </a:r>
          </a:p>
          <a:p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agg_value_by_nationality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valeur par nationalité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11D41-850C-4D3F-9163-4342CE57820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8195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les bugs de dépendance dans </a:t>
            </a:r>
            <a:r>
              <a:rPr lang="fr-FR" dirty="0" err="1"/>
              <a:t>Airflow</a:t>
            </a:r>
            <a:r>
              <a:rPr lang="fr-FR" dirty="0"/>
              <a:t>. L'installation du provider Spark forçait une mise à jour d'</a:t>
            </a:r>
            <a:r>
              <a:rPr lang="fr-FR" dirty="0" err="1"/>
              <a:t>Airflow</a:t>
            </a:r>
            <a:r>
              <a:rPr lang="fr-FR" dirty="0"/>
              <a:t> vers une version incompatible. J'ai contourné ça en utilisant </a:t>
            </a:r>
            <a:r>
              <a:rPr lang="fr-FR" dirty="0" err="1"/>
              <a:t>subprocess</a:t>
            </a:r>
            <a:r>
              <a:rPr lang="fr-FR" dirty="0"/>
              <a:t> et docker </a:t>
            </a:r>
            <a:r>
              <a:rPr lang="fr-FR" dirty="0" err="1"/>
              <a:t>exec</a:t>
            </a:r>
            <a:r>
              <a:rPr lang="fr-FR" dirty="0"/>
              <a:t> directement pour lancer </a:t>
            </a:r>
            <a:r>
              <a:rPr lang="fr-FR" dirty="0" err="1"/>
              <a:t>spark-submit</a:t>
            </a:r>
            <a:r>
              <a:rPr lang="fr-FR" dirty="0"/>
              <a:t>, ce qui est plus robuste dans notre contexte.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11D41-850C-4D3F-9163-4342CE578201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1421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773"/>
          <a:stretch>
            <a:fillRect/>
          </a:stretch>
        </p:blipFill>
        <p:spPr>
          <a:xfrm>
            <a:off x="0" y="38100"/>
            <a:ext cx="16256000" cy="88164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2516186D-3094-F994-D331-541AA5260EF7}"/>
              </a:ext>
            </a:extLst>
          </p:cNvPr>
          <p:cNvSpPr txBox="1"/>
          <p:nvPr/>
        </p:nvSpPr>
        <p:spPr>
          <a:xfrm>
            <a:off x="3213100" y="1752600"/>
            <a:ext cx="982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/>
              <a:t>Abdelhamid BELHADJ KACEM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773"/>
          <a:stretch>
            <a:fillRect/>
          </a:stretch>
        </p:blipFill>
        <p:spPr>
          <a:xfrm>
            <a:off x="0" y="38100"/>
            <a:ext cx="16256000" cy="881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b="2773"/>
          <a:stretch>
            <a:fillRect/>
          </a:stretch>
        </p:blipFill>
        <p:spPr>
          <a:xfrm>
            <a:off x="0" y="38100"/>
            <a:ext cx="16256000" cy="881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DE3EA357-8F21-A2BC-E06E-5F52A5CB2A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57"/>
          <a:stretch>
            <a:fillRect/>
          </a:stretch>
        </p:blipFill>
        <p:spPr>
          <a:xfrm>
            <a:off x="0" y="-152400"/>
            <a:ext cx="16256000" cy="88164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3D829A0-77DF-225D-B447-F90010C5FA16}"/>
              </a:ext>
            </a:extLst>
          </p:cNvPr>
          <p:cNvSpPr txBox="1"/>
          <p:nvPr/>
        </p:nvSpPr>
        <p:spPr>
          <a:xfrm>
            <a:off x="11176000" y="59436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JDBC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17" y="0"/>
            <a:ext cx="16251936" cy="975360"/>
          </a:xfrm>
          <a:prstGeom prst="rect">
            <a:avLst/>
          </a:prstGeom>
          <a:solidFill>
            <a:srgbClr val="1B3A2D"/>
          </a:solidFill>
          <a:ln>
            <a:solidFill>
              <a:srgbClr val="1B3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67" b="1" dirty="0" err="1">
                <a:solidFill>
                  <a:srgbClr val="FFFFFF"/>
                </a:solidFill>
              </a:rPr>
              <a:t>Sécurité</a:t>
            </a:r>
            <a:r>
              <a:rPr sz="3467" b="1" dirty="0">
                <a:solidFill>
                  <a:srgbClr val="FFFFFF"/>
                </a:solidFill>
              </a:rPr>
              <a:t> de </a:t>
            </a:r>
            <a:r>
              <a:rPr sz="3467" b="1" dirty="0" err="1">
                <a:solidFill>
                  <a:srgbClr val="FFFFFF"/>
                </a:solidFill>
              </a:rPr>
              <a:t>l'Infrastructure</a:t>
            </a:r>
            <a:endParaRPr sz="3467" b="1" dirty="0">
              <a:solidFill>
                <a:srgbClr val="FFFFFF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117" y="975360"/>
            <a:ext cx="16251936" cy="60960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3509532" y="1158240"/>
            <a:ext cx="920053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i="1" dirty="0">
                <a:solidFill>
                  <a:srgbClr val="232323"/>
                </a:solidFill>
              </a:rPr>
              <a:t>Principe du </a:t>
            </a:r>
            <a:r>
              <a:rPr sz="2000" i="1" dirty="0" err="1">
                <a:solidFill>
                  <a:srgbClr val="232323"/>
                </a:solidFill>
              </a:rPr>
              <a:t>moindre</a:t>
            </a:r>
            <a:r>
              <a:rPr sz="2000" i="1" dirty="0">
                <a:solidFill>
                  <a:srgbClr val="232323"/>
                </a:solidFill>
              </a:rPr>
              <a:t> </a:t>
            </a:r>
            <a:r>
              <a:rPr sz="2000" i="1" dirty="0" err="1">
                <a:solidFill>
                  <a:srgbClr val="232323"/>
                </a:solidFill>
              </a:rPr>
              <a:t>privilège</a:t>
            </a:r>
            <a:r>
              <a:rPr sz="2000" i="1" dirty="0">
                <a:solidFill>
                  <a:srgbClr val="232323"/>
                </a:solidFill>
              </a:rPr>
              <a:t> — </a:t>
            </a:r>
            <a:r>
              <a:rPr sz="2000" i="1" dirty="0" err="1">
                <a:solidFill>
                  <a:srgbClr val="232323"/>
                </a:solidFill>
              </a:rPr>
              <a:t>chaque</a:t>
            </a:r>
            <a:r>
              <a:rPr sz="2000" i="1" dirty="0">
                <a:solidFill>
                  <a:srgbClr val="232323"/>
                </a:solidFill>
              </a:rPr>
              <a:t> service a </a:t>
            </a:r>
            <a:r>
              <a:rPr sz="2000" i="1" dirty="0" err="1">
                <a:solidFill>
                  <a:srgbClr val="232323"/>
                </a:solidFill>
              </a:rPr>
              <a:t>uniquement</a:t>
            </a:r>
            <a:r>
              <a:rPr sz="2000" i="1" dirty="0">
                <a:solidFill>
                  <a:srgbClr val="232323"/>
                </a:solidFill>
              </a:rPr>
              <a:t> les droits </a:t>
            </a:r>
            <a:r>
              <a:rPr sz="2000" i="1" dirty="0" err="1">
                <a:solidFill>
                  <a:srgbClr val="232323"/>
                </a:solidFill>
              </a:rPr>
              <a:t>dont</a:t>
            </a:r>
            <a:r>
              <a:rPr sz="2000" i="1" dirty="0">
                <a:solidFill>
                  <a:srgbClr val="232323"/>
                </a:solidFill>
              </a:rPr>
              <a:t> il a </a:t>
            </a:r>
            <a:r>
              <a:rPr sz="2000" i="1" dirty="0" err="1">
                <a:solidFill>
                  <a:srgbClr val="232323"/>
                </a:solidFill>
              </a:rPr>
              <a:t>besoin</a:t>
            </a:r>
            <a:endParaRPr sz="2000" i="1" dirty="0">
              <a:solidFill>
                <a:srgbClr val="232323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50757" y="1767840"/>
            <a:ext cx="7254240" cy="6035040"/>
          </a:xfrm>
          <a:prstGeom prst="roundRect">
            <a:avLst/>
          </a:prstGeom>
          <a:solidFill>
            <a:srgbClr val="F1F8F4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ounded Rectangle 5"/>
          <p:cNvSpPr/>
          <p:nvPr/>
        </p:nvSpPr>
        <p:spPr>
          <a:xfrm>
            <a:off x="550757" y="1767840"/>
            <a:ext cx="7254240" cy="548640"/>
          </a:xfrm>
          <a:prstGeom prst="roundRect">
            <a:avLst/>
          </a:prstGeom>
          <a:solidFill>
            <a:srgbClr val="1B3A2D"/>
          </a:solidFill>
          <a:ln>
            <a:solidFill>
              <a:srgbClr val="1B3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33" b="1">
                <a:solidFill>
                  <a:srgbClr val="FFFFFF"/>
                </a:solidFill>
                <a:latin typeface="Consolas"/>
              </a:rPr>
              <a:t>role_spark_etl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598" y="2499360"/>
            <a:ext cx="3938129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67">
                <a:solidFill>
                  <a:srgbClr val="2D6A4F"/>
                </a:solidFill>
                <a:latin typeface="Arial"/>
              </a:rPr>
              <a:t>Utilisé par : Apache Spark (silver_to_gold.py)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4597" y="3133344"/>
            <a:ext cx="646176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67" b="1">
                <a:solidFill>
                  <a:srgbClr val="232323"/>
                </a:solidFill>
                <a:latin typeface="Consolas"/>
              </a:rPr>
              <a:t>✅ SELECT  — lire les tables Gold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4597" y="3767328"/>
            <a:ext cx="646176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67" b="1">
                <a:solidFill>
                  <a:srgbClr val="232323"/>
                </a:solidFill>
                <a:latin typeface="Consolas"/>
              </a:rPr>
              <a:t>✅ INSERT  — écrire de nouvelles lignes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4597" y="4401312"/>
            <a:ext cx="646176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67" b="1">
                <a:solidFill>
                  <a:srgbClr val="232323"/>
                </a:solidFill>
                <a:latin typeface="Consolas"/>
              </a:rPr>
              <a:t>✅ UPDATE  — mettre à jour les données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597" y="5035296"/>
            <a:ext cx="646176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67" b="1">
                <a:solidFill>
                  <a:srgbClr val="232323"/>
                </a:solidFill>
                <a:latin typeface="Consolas"/>
              </a:rPr>
              <a:t>✅ DELETE  — supprimer des lignes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597" y="5669280"/>
            <a:ext cx="6461760" cy="512064"/>
          </a:xfrm>
          <a:prstGeom prst="roundRect">
            <a:avLst/>
          </a:prstGeom>
          <a:solidFill>
            <a:srgbClr val="FFF0F0"/>
          </a:solidFill>
          <a:ln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67" b="1">
                <a:solidFill>
                  <a:srgbClr val="B43232"/>
                </a:solidFill>
                <a:latin typeface="Consolas"/>
              </a:rPr>
              <a:t>❌ DROP TABLE — supprimer une table entière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598" y="6364224"/>
            <a:ext cx="5313955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33" i="1">
                <a:solidFill>
                  <a:srgbClr val="232323"/>
                </a:solidFill>
              </a:rPr>
              <a:t>→ Spark écrit en Gold : il a besoin de SELECT + INSERT + UPDATE + DELETE.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4597" y="1767840"/>
            <a:ext cx="7254240" cy="6035040"/>
          </a:xfrm>
          <a:prstGeom prst="roundRect">
            <a:avLst/>
          </a:prstGeom>
          <a:solidFill>
            <a:srgbClr val="F0F6F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ounded Rectangle 14"/>
          <p:cNvSpPr/>
          <p:nvPr/>
        </p:nvSpPr>
        <p:spPr>
          <a:xfrm>
            <a:off x="8414597" y="1767840"/>
            <a:ext cx="7254240" cy="548640"/>
          </a:xfrm>
          <a:prstGeom prst="roundRect">
            <a:avLst/>
          </a:prstGeom>
          <a:solidFill>
            <a:srgbClr val="1A4A7A"/>
          </a:solidFill>
          <a:ln>
            <a:solidFill>
              <a:srgbClr val="1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33" b="1">
                <a:solidFill>
                  <a:srgbClr val="FFFFFF"/>
                </a:solidFill>
                <a:latin typeface="Consolas"/>
              </a:rPr>
              <a:t>role_metabase_read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8438" y="2499360"/>
            <a:ext cx="3164649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67">
                <a:solidFill>
                  <a:srgbClr val="1A4A7A"/>
                </a:solidFill>
                <a:latin typeface="Arial"/>
              </a:rPr>
              <a:t>Utilisé par : Metabase (dashboards)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58437" y="3133344"/>
            <a:ext cx="646176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1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67" b="1">
                <a:solidFill>
                  <a:srgbClr val="232323"/>
                </a:solidFill>
                <a:latin typeface="Consolas"/>
              </a:rPr>
              <a:t>✅ SELECT  — lire les tables Gold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8438" y="3767328"/>
            <a:ext cx="2286203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67" b="1" i="1">
                <a:solidFill>
                  <a:srgbClr val="1A4A7A"/>
                </a:solidFill>
                <a:latin typeface="Arial"/>
              </a:rPr>
              <a:t>C'est tout. Rien d'autre.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58437" y="4401312"/>
            <a:ext cx="6461760" cy="512064"/>
          </a:xfrm>
          <a:prstGeom prst="roundRect">
            <a:avLst/>
          </a:prstGeom>
          <a:solidFill>
            <a:srgbClr val="FFF0F0"/>
          </a:solidFill>
          <a:ln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67" b="1">
                <a:solidFill>
                  <a:srgbClr val="B43232"/>
                </a:solidFill>
                <a:latin typeface="Consolas"/>
              </a:rPr>
              <a:t>❌ INSERT  — ajouter des données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58437" y="5035296"/>
            <a:ext cx="6461760" cy="512064"/>
          </a:xfrm>
          <a:prstGeom prst="roundRect">
            <a:avLst/>
          </a:prstGeom>
          <a:solidFill>
            <a:srgbClr val="FFF0F0"/>
          </a:solidFill>
          <a:ln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67" b="1">
                <a:solidFill>
                  <a:srgbClr val="B43232"/>
                </a:solidFill>
                <a:latin typeface="Consolas"/>
              </a:rPr>
              <a:t>❌ UPDATE  — modifier des données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58437" y="5669280"/>
            <a:ext cx="6461760" cy="512064"/>
          </a:xfrm>
          <a:prstGeom prst="roundRect">
            <a:avLst/>
          </a:prstGeom>
          <a:solidFill>
            <a:srgbClr val="FFF0F0"/>
          </a:solidFill>
          <a:ln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67" b="1">
                <a:solidFill>
                  <a:srgbClr val="B43232"/>
                </a:solidFill>
                <a:latin typeface="Consolas"/>
              </a:rPr>
              <a:t>❌ DELETE  — supprimer des lignes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58437" y="6303264"/>
            <a:ext cx="6461760" cy="512064"/>
          </a:xfrm>
          <a:prstGeom prst="roundRect">
            <a:avLst/>
          </a:prstGeom>
          <a:solidFill>
            <a:srgbClr val="FFF0F0"/>
          </a:solidFill>
          <a:ln>
            <a:solidFill>
              <a:srgbClr val="B4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67" b="1">
                <a:solidFill>
                  <a:srgbClr val="B43232"/>
                </a:solidFill>
                <a:latin typeface="Consolas"/>
              </a:rPr>
              <a:t>❌ DROP    — supprimer une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8437" y="6998208"/>
            <a:ext cx="7508466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33" i="1">
                <a:solidFill>
                  <a:srgbClr val="232323"/>
                </a:solidFill>
              </a:rPr>
              <a:t>→ Si Metabase est compromis, l'attaquant peut lire mais NE PEUT PAS modifier ou supprimer les données.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677" y="8168640"/>
            <a:ext cx="14874240" cy="548640"/>
          </a:xfrm>
          <a:prstGeom prst="roundRect">
            <a:avLst/>
          </a:prstGeom>
          <a:solidFill>
            <a:srgbClr val="F8EECD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67" b="1">
                <a:solidFill>
                  <a:srgbClr val="1B3A2D"/>
                </a:solidFill>
              </a:rPr>
              <a:t>🔐 Isolation Docker — Réseau privé football_net — Aucun service exposé sur Internet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773"/>
          <a:stretch>
            <a:fillRect/>
          </a:stretch>
        </p:blipFill>
        <p:spPr>
          <a:xfrm>
            <a:off x="0" y="38100"/>
            <a:ext cx="16256000" cy="88164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EAA6CE2-D9E0-8C4C-0EC7-BAE38EEDFE7C}"/>
              </a:ext>
            </a:extLst>
          </p:cNvPr>
          <p:cNvSpPr/>
          <p:nvPr/>
        </p:nvSpPr>
        <p:spPr>
          <a:xfrm>
            <a:off x="4394200" y="3429000"/>
            <a:ext cx="10515600" cy="914400"/>
          </a:xfrm>
          <a:prstGeom prst="rect">
            <a:avLst/>
          </a:prstGeom>
          <a:solidFill>
            <a:srgbClr val="EDF1F2"/>
          </a:solidFill>
          <a:ln>
            <a:solidFill>
              <a:srgbClr val="EBF0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AAE73B-32CD-0E7B-6279-67F8CE9BDD99}"/>
              </a:ext>
            </a:extLst>
          </p:cNvPr>
          <p:cNvSpPr/>
          <p:nvPr/>
        </p:nvSpPr>
        <p:spPr>
          <a:xfrm>
            <a:off x="4375331" y="5943600"/>
            <a:ext cx="10515600" cy="914400"/>
          </a:xfrm>
          <a:prstGeom prst="rect">
            <a:avLst/>
          </a:prstGeom>
          <a:solidFill>
            <a:srgbClr val="EDF1F2"/>
          </a:solidFill>
          <a:ln>
            <a:solidFill>
              <a:srgbClr val="EBF0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95DA088-AB18-0B73-A07F-C992AB6D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1" y="1295400"/>
            <a:ext cx="16244389" cy="7810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b="2773"/>
          <a:stretch>
            <a:fillRect/>
          </a:stretch>
        </p:blipFill>
        <p:spPr>
          <a:xfrm>
            <a:off x="0" y="38100"/>
            <a:ext cx="16256000" cy="88164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3E5FCE3-9466-D84F-0B69-56DD3B670F03}"/>
              </a:ext>
            </a:extLst>
          </p:cNvPr>
          <p:cNvSpPr/>
          <p:nvPr/>
        </p:nvSpPr>
        <p:spPr>
          <a:xfrm>
            <a:off x="8890000" y="5715000"/>
            <a:ext cx="6019800" cy="1524000"/>
          </a:xfrm>
          <a:prstGeom prst="rect">
            <a:avLst/>
          </a:prstGeom>
          <a:solidFill>
            <a:srgbClr val="DBEDDD"/>
          </a:solidFill>
          <a:ln>
            <a:solidFill>
              <a:srgbClr val="DBE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1249</TotalTime>
  <Words>400</Words>
  <Application>Microsoft Office PowerPoint</Application>
  <PresentationFormat>Personnalisé</PresentationFormat>
  <Paragraphs>44</Paragraphs>
  <Slides>8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Abdelhamid Belhadj Kacem</cp:lastModifiedBy>
  <cp:revision>7</cp:revision>
  <dcterms:created xsi:type="dcterms:W3CDTF">2006-08-16T00:00:00Z</dcterms:created>
  <dcterms:modified xsi:type="dcterms:W3CDTF">2026-05-29T20:41:27Z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2026-05-28T23:51:22Z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ae7a7c47-23b6-42ed-8be1-f8f9188697b3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